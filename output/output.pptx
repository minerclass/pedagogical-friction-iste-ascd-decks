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28de3c731449a4" /><Relationship Type="http://schemas.openxmlformats.org/officeDocument/2006/relationships/extended-properties" Target="/docProps/app.xml" Id="R929f7bf423f34b62" /><Relationship Type="http://schemas.openxmlformats.org/officeDocument/2006/relationships/officeDocument" Target="/ppt/presentation.xml" Id="R1b8788cc8e6642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3c59f8cdd74f94"/>
  </p:sldMasterIdLst>
  <p:notesMasterIdLst>
    <p:notesMasterId xmlns:r="http://schemas.openxmlformats.org/officeDocument/2006/relationships" r:id="R43dd635a3bb5470b"/>
  </p:notesMasterIdLst>
  <p:sldIdLst>
    <p:sldId xmlns:r="http://schemas.openxmlformats.org/officeDocument/2006/relationships" id="256" r:id="Ra66ef0f461fc443f"/>
    <p:sldId xmlns:r="http://schemas.openxmlformats.org/officeDocument/2006/relationships" id="257" r:id="R042feeadb6e04533"/>
    <p:sldId xmlns:r="http://schemas.openxmlformats.org/officeDocument/2006/relationships" id="258" r:id="R37310c295fb54df5"/>
    <p:sldId xmlns:r="http://schemas.openxmlformats.org/officeDocument/2006/relationships" id="259" r:id="R02142d4079114963"/>
    <p:sldId xmlns:r="http://schemas.openxmlformats.org/officeDocument/2006/relationships" id="260" r:id="Rc6212e80069b4c20"/>
    <p:sldId xmlns:r="http://schemas.openxmlformats.org/officeDocument/2006/relationships" id="261" r:id="R771a77927d134eab"/>
    <p:sldId xmlns:r="http://schemas.openxmlformats.org/officeDocument/2006/relationships" id="262" r:id="Rf3b9d3889fa54cbe"/>
    <p:sldId xmlns:r="http://schemas.openxmlformats.org/officeDocument/2006/relationships" id="263" r:id="R481db0a6d63f4f9d"/>
    <p:sldId xmlns:r="http://schemas.openxmlformats.org/officeDocument/2006/relationships" id="264" r:id="R62a375a03afd41b8"/>
    <p:sldId xmlns:r="http://schemas.openxmlformats.org/officeDocument/2006/relationships" id="265" r:id="R71badb50c2fc42fa"/>
    <p:sldId xmlns:r="http://schemas.openxmlformats.org/officeDocument/2006/relationships" id="266" r:id="Rb531f0aba0a343ef"/>
    <p:sldId xmlns:r="http://schemas.openxmlformats.org/officeDocument/2006/relationships" id="267" r:id="R219081142b9f4bb0"/>
    <p:sldId xmlns:r="http://schemas.openxmlformats.org/officeDocument/2006/relationships" id="268" r:id="R8969071194914160"/>
    <p:sldId xmlns:r="http://schemas.openxmlformats.org/officeDocument/2006/relationships" id="269" r:id="R43e7171cde994956"/>
    <p:sldId xmlns:r="http://schemas.openxmlformats.org/officeDocument/2006/relationships" id="270" r:id="R6a4cabbc2cd045e0"/>
    <p:sldId xmlns:r="http://schemas.openxmlformats.org/officeDocument/2006/relationships" id="271" r:id="R2a940f8428084fc1"/>
    <p:sldId xmlns:r="http://schemas.openxmlformats.org/officeDocument/2006/relationships" id="272" r:id="R519e2ce9e7b64670"/>
    <p:sldId xmlns:r="http://schemas.openxmlformats.org/officeDocument/2006/relationships" id="273" r:id="Rc759b94326a747f2"/>
    <p:sldId xmlns:r="http://schemas.openxmlformats.org/officeDocument/2006/relationships" id="274" r:id="R94a915bdaa8f4ea6"/>
    <p:sldId xmlns:r="http://schemas.openxmlformats.org/officeDocument/2006/relationships" id="275" r:id="Re65698692ccf4302"/>
    <p:sldId xmlns:r="http://schemas.openxmlformats.org/officeDocument/2006/relationships" id="276" r:id="R00dcd95ee1f44a85"/>
    <p:sldId xmlns:r="http://schemas.openxmlformats.org/officeDocument/2006/relationships" id="277" r:id="R35944a38088b48c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3c59f8cdd74f94" /><Relationship Type="http://schemas.openxmlformats.org/officeDocument/2006/relationships/theme" Target="/ppt/theme/theme1.xml" Id="R7a0f30ec536d4bb9" /><Relationship Type="http://schemas.openxmlformats.org/officeDocument/2006/relationships/notesMaster" Target="/ppt/notesMasters/notesMaster1.xml" Id="R43dd635a3bb5470b" /><Relationship Type="http://schemas.openxmlformats.org/officeDocument/2006/relationships/presProps" Target="/ppt/presProps.xml" Id="R1982b80a092441b6" /><Relationship Type="http://schemas.openxmlformats.org/officeDocument/2006/relationships/viewProps" Target="/ppt/viewProps.xml" Id="R54ee43c074a543c7" /><Relationship Type="http://schemas.openxmlformats.org/officeDocument/2006/relationships/tableStyles" Target="/ppt/tableStyles.xml" Id="Rf064a830193b4425" /><Relationship Type="http://schemas.openxmlformats.org/officeDocument/2006/relationships/slide" Target="/ppt/slides/slide1.xml" Id="Ra66ef0f461fc443f" /><Relationship Type="http://schemas.openxmlformats.org/officeDocument/2006/relationships/slide" Target="/ppt/slides/slide2.xml" Id="R042feeadb6e04533" /><Relationship Type="http://schemas.openxmlformats.org/officeDocument/2006/relationships/slide" Target="/ppt/slides/slide3.xml" Id="R37310c295fb54df5" /><Relationship Type="http://schemas.openxmlformats.org/officeDocument/2006/relationships/slide" Target="/ppt/slides/slide4.xml" Id="R02142d4079114963" /><Relationship Type="http://schemas.openxmlformats.org/officeDocument/2006/relationships/slide" Target="/ppt/slides/slide5.xml" Id="Rc6212e80069b4c20" /><Relationship Type="http://schemas.openxmlformats.org/officeDocument/2006/relationships/slide" Target="/ppt/slides/slide6.xml" Id="R771a77927d134eab" /><Relationship Type="http://schemas.openxmlformats.org/officeDocument/2006/relationships/slide" Target="/ppt/slides/slide7.xml" Id="Rf3b9d3889fa54cbe" /><Relationship Type="http://schemas.openxmlformats.org/officeDocument/2006/relationships/slide" Target="/ppt/slides/slide8.xml" Id="R481db0a6d63f4f9d" /><Relationship Type="http://schemas.openxmlformats.org/officeDocument/2006/relationships/slide" Target="/ppt/slides/slide9.xml" Id="R62a375a03afd41b8" /><Relationship Type="http://schemas.openxmlformats.org/officeDocument/2006/relationships/slide" Target="/ppt/slides/slide10.xml" Id="R71badb50c2fc42fa" /><Relationship Type="http://schemas.openxmlformats.org/officeDocument/2006/relationships/slide" Target="/ppt/slides/slide11.xml" Id="Rb531f0aba0a343ef" /><Relationship Type="http://schemas.openxmlformats.org/officeDocument/2006/relationships/slide" Target="/ppt/slides/slide12.xml" Id="R219081142b9f4bb0" /><Relationship Type="http://schemas.openxmlformats.org/officeDocument/2006/relationships/slide" Target="/ppt/slides/slide13.xml" Id="R8969071194914160" /><Relationship Type="http://schemas.openxmlformats.org/officeDocument/2006/relationships/slide" Target="/ppt/slides/slide14.xml" Id="R43e7171cde994956" /><Relationship Type="http://schemas.openxmlformats.org/officeDocument/2006/relationships/slide" Target="/ppt/slides/slide15.xml" Id="R6a4cabbc2cd045e0" /><Relationship Type="http://schemas.openxmlformats.org/officeDocument/2006/relationships/slide" Target="/ppt/slides/slide16.xml" Id="R2a940f8428084fc1" /><Relationship Type="http://schemas.openxmlformats.org/officeDocument/2006/relationships/slide" Target="/ppt/slides/slide17.xml" Id="R519e2ce9e7b64670" /><Relationship Type="http://schemas.openxmlformats.org/officeDocument/2006/relationships/slide" Target="/ppt/slides/slide18.xml" Id="Rc759b94326a747f2" /><Relationship Type="http://schemas.openxmlformats.org/officeDocument/2006/relationships/slide" Target="/ppt/slides/slide19.xml" Id="R94a915bdaa8f4ea6" /><Relationship Type="http://schemas.openxmlformats.org/officeDocument/2006/relationships/slide" Target="/ppt/slides/slide20.xml" Id="Re65698692ccf4302" /><Relationship Type="http://schemas.openxmlformats.org/officeDocument/2006/relationships/slide" Target="/ppt/slides/slide21.xml" Id="R00dcd95ee1f44a85" /><Relationship Type="http://schemas.openxmlformats.org/officeDocument/2006/relationships/slide" Target="/ppt/slides/slide22.xml" Id="R35944a38088b48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4e54ac17f2049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02b277d42c49af" /><Relationship Type="http://schemas.openxmlformats.org/officeDocument/2006/relationships/notesMaster" Target="/ppt/notesMasters/notesMaster1.xml" Id="R8807549dad0e4b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22bdbca21a4091" /><Relationship Type="http://schemas.openxmlformats.org/officeDocument/2006/relationships/notesMaster" Target="/ppt/notesMasters/notesMaster1.xml" Id="R41dac1d1c3ea43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8c0c3f3a884635" /><Relationship Type="http://schemas.openxmlformats.org/officeDocument/2006/relationships/notesMaster" Target="/ppt/notesMasters/notesMaster1.xml" Id="R89a6725a59ba45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d90c6f16a8471e" /><Relationship Type="http://schemas.openxmlformats.org/officeDocument/2006/relationships/notesMaster" Target="/ppt/notesMasters/notesMaster1.xml" Id="R2706125378524c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ae8f0c37e74920" /><Relationship Type="http://schemas.openxmlformats.org/officeDocument/2006/relationships/notesMaster" Target="/ppt/notesMasters/notesMaster1.xml" Id="Rbac4845a0ccf4b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0bb8e77c3441d8" /><Relationship Type="http://schemas.openxmlformats.org/officeDocument/2006/relationships/notesMaster" Target="/ppt/notesMasters/notesMaster1.xml" Id="Rd430008f31f34e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d58420c8354225" /><Relationship Type="http://schemas.openxmlformats.org/officeDocument/2006/relationships/notesMaster" Target="/ppt/notesMasters/notesMaster1.xml" Id="Reecebc7be94f47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5267faa4994fee" /><Relationship Type="http://schemas.openxmlformats.org/officeDocument/2006/relationships/notesMaster" Target="/ppt/notesMasters/notesMaster1.xml" Id="Rac4a7bae6bab49a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570f2cd2f34a78" /><Relationship Type="http://schemas.openxmlformats.org/officeDocument/2006/relationships/notesMaster" Target="/ppt/notesMasters/notesMaster1.xml" Id="R377d4ca9e1a242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26f77c18754522" /><Relationship Type="http://schemas.openxmlformats.org/officeDocument/2006/relationships/notesMaster" Target="/ppt/notesMasters/notesMaster1.xml" Id="Rcfc8407808744e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3cbaf572944fde" /><Relationship Type="http://schemas.openxmlformats.org/officeDocument/2006/relationships/notesMaster" Target="/ppt/notesMasters/notesMaster1.xml" Id="R80435af4991a49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5e8fc2f4be4663" /><Relationship Type="http://schemas.openxmlformats.org/officeDocument/2006/relationships/notesMaster" Target="/ppt/notesMasters/notesMaster1.xml" Id="Rc703eb96505a4b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5234b8c59d547a4" /><Relationship Type="http://schemas.openxmlformats.org/officeDocument/2006/relationships/notesMaster" Target="/ppt/notesMasters/notesMaster1.xml" Id="R6504bc2ac7754d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65985e81d1d4034" /><Relationship Type="http://schemas.openxmlformats.org/officeDocument/2006/relationships/notesMaster" Target="/ppt/notesMasters/notesMaster1.xml" Id="R42ddcd147c3b42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ae3e0f847648c8" /><Relationship Type="http://schemas.openxmlformats.org/officeDocument/2006/relationships/notesMaster" Target="/ppt/notesMasters/notesMaster1.xml" Id="Rc7590845bb4a423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833c189de14964" /><Relationship Type="http://schemas.openxmlformats.org/officeDocument/2006/relationships/notesMaster" Target="/ppt/notesMasters/notesMaster1.xml" Id="R0cb322e11c7d45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9aad1e48b7452e" /><Relationship Type="http://schemas.openxmlformats.org/officeDocument/2006/relationships/notesMaster" Target="/ppt/notesMasters/notesMaster1.xml" Id="Re3772636f7744d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fc519b44974ccb" /><Relationship Type="http://schemas.openxmlformats.org/officeDocument/2006/relationships/notesMaster" Target="/ppt/notesMasters/notesMaster1.xml" Id="R1573844635ce4c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12f156936b5470a" /><Relationship Type="http://schemas.openxmlformats.org/officeDocument/2006/relationships/notesMaster" Target="/ppt/notesMasters/notesMaster1.xml" Id="R20204d2b2f2348e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7fcd9445374761" /><Relationship Type="http://schemas.openxmlformats.org/officeDocument/2006/relationships/notesMaster" Target="/ppt/notesMasters/notesMaster1.xml" Id="Reef114df39404c4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743459169804468" /><Relationship Type="http://schemas.openxmlformats.org/officeDocument/2006/relationships/notesMaster" Target="/ppt/notesMasters/notesMaster1.xml" Id="R7564dd6094744a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44fad9dff944dab" /><Relationship Type="http://schemas.openxmlformats.org/officeDocument/2006/relationships/notesMaster" Target="/ppt/notesMasters/notesMaster1.xml" Id="R88b4b472cae24d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f0c0e0529a45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1485f0936884b02" /><Relationship Type="http://schemas.openxmlformats.org/officeDocument/2006/relationships/slideLayout" Target="/ppt/slideLayouts/slideLayout2.xml" Id="R2e5777b5a4af45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5777b5a4af45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45d0321d9d43bd" /><Relationship Type="http://schemas.openxmlformats.org/officeDocument/2006/relationships/notesSlide" Target="/ppt/notesSlides/notesSlide1.xml" Id="Ra4fda50b2b9e42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40d73f352f4cbb" /><Relationship Type="http://schemas.openxmlformats.org/officeDocument/2006/relationships/notesSlide" Target="/ppt/notesSlides/notesSlide2.xml" Id="R521d03837613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3a24f15574d63" /><Relationship Type="http://schemas.openxmlformats.org/officeDocument/2006/relationships/notesSlide" Target="/ppt/notesSlides/notesSlide3.xml" Id="R0db91ce8a54b4b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e75ed3f34545b3" /><Relationship Type="http://schemas.openxmlformats.org/officeDocument/2006/relationships/notesSlide" Target="/ppt/notesSlides/notesSlide4.xml" Id="Rcbb94c10160547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ddb9d97344bd4" /><Relationship Type="http://schemas.openxmlformats.org/officeDocument/2006/relationships/notesSlide" Target="/ppt/notesSlides/notesSlide5.xml" Id="R2546eaebcd8241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a101379b86428a" /><Relationship Type="http://schemas.openxmlformats.org/officeDocument/2006/relationships/notesSlide" Target="/ppt/notesSlides/notesSlide6.xml" Id="R6a622c7265a240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35f4412c8f458f" /><Relationship Type="http://schemas.openxmlformats.org/officeDocument/2006/relationships/notesSlide" Target="/ppt/notesSlides/notesSlide7.xml" Id="R645d787384a740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f5665c1d449df" /><Relationship Type="http://schemas.openxmlformats.org/officeDocument/2006/relationships/notesSlide" Target="/ppt/notesSlides/notesSlide8.xml" Id="R981bbcbb80e44b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4993c44bd546fa" /><Relationship Type="http://schemas.openxmlformats.org/officeDocument/2006/relationships/notesSlide" Target="/ppt/notesSlides/notesSlide9.xml" Id="Ra7eb3a464ce14c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07cb2be1df4bb3" /><Relationship Type="http://schemas.openxmlformats.org/officeDocument/2006/relationships/notesSlide" Target="/ppt/notesSlides/notesSlide10.xml" Id="Recec2ff7f4914b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15b296e53047f0" /><Relationship Type="http://schemas.openxmlformats.org/officeDocument/2006/relationships/notesSlide" Target="/ppt/notesSlides/notesSlide11.xml" Id="Rd2a06a370dc44c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1cab6e0a29457c" /><Relationship Type="http://schemas.openxmlformats.org/officeDocument/2006/relationships/notesSlide" Target="/ppt/notesSlides/notesSlide12.xml" Id="R3796e61194b74be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04137e21a7449b" /><Relationship Type="http://schemas.openxmlformats.org/officeDocument/2006/relationships/notesSlide" Target="/ppt/notesSlides/notesSlide13.xml" Id="R769d776744df49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62d17c37834b1b" /><Relationship Type="http://schemas.openxmlformats.org/officeDocument/2006/relationships/notesSlide" Target="/ppt/notesSlides/notesSlide14.xml" Id="Rc44b428f459e4c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48b5ffe80e4b97" /><Relationship Type="http://schemas.openxmlformats.org/officeDocument/2006/relationships/notesSlide" Target="/ppt/notesSlides/notesSlide15.xml" Id="R5de87bd822814f0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218c2768314873" /><Relationship Type="http://schemas.openxmlformats.org/officeDocument/2006/relationships/notesSlide" Target="/ppt/notesSlides/notesSlide16.xml" Id="R29444820ee6449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b93623418d4016" /><Relationship Type="http://schemas.openxmlformats.org/officeDocument/2006/relationships/notesSlide" Target="/ppt/notesSlides/notesSlide17.xml" Id="R6219e0a7830843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46d67ce14b4520" /><Relationship Type="http://schemas.openxmlformats.org/officeDocument/2006/relationships/notesSlide" Target="/ppt/notesSlides/notesSlide18.xml" Id="Rf43233df2dbb46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5cdb96bef54202" /><Relationship Type="http://schemas.openxmlformats.org/officeDocument/2006/relationships/notesSlide" Target="/ppt/notesSlides/notesSlide19.xml" Id="Rea20be4393ea4d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488e9ccbd4e62" /><Relationship Type="http://schemas.openxmlformats.org/officeDocument/2006/relationships/notesSlide" Target="/ppt/notesSlides/notesSlide20.xml" Id="Rfe504a24d8754b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81d9b2a054452a" /><Relationship Type="http://schemas.openxmlformats.org/officeDocument/2006/relationships/notesSlide" Target="/ppt/notesSlides/notesSlide21.xml" Id="Rafe73c0c5cda44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8ba921b8594ad9" /><Relationship Type="http://schemas.openxmlformats.org/officeDocument/2006/relationships/notesSlide" Target="/ppt/notesSlides/notesSlide22.xml" Id="R8b5219832c1b40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A0978E55-4D7D-47D3-A160-E6E54D7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3CEA0-161C-4B3B-B7C7-E7F4F4E9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E1EB0-4685-4D53-A5C2-664E38EE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62100"/>
            <a:ext cx="166497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900" b="0">
                <a:solidFill>
                  <a:srgbClr val="2A241E"/>
                </a:solidFill>
              </a:defRPr>
            </a:pPr>
            <a:r>
              <a:rPr sz="9900" b="0">
                <a:solidFill>
                  <a:srgbClr val="2A241E"/>
                </a:solidFill>
              </a:rPr>
              <a:t>Friction.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671C6-BE08-4AC9-880B-CA0EAEBC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25A32"/>
                </a:solidFill>
              </a:defRPr>
            </a:pPr>
            <a:r>
              <a:rPr sz="1800" b="1">
                <a:solidFill>
                  <a:srgbClr val="B25A32"/>
                </a:solidFill>
              </a:rPr>
              <a:t>THE PEDAGOGICAL IMPERATIVE OF FRICTION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CE1912-5CE6-4C14-BCE7-77D7466A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10972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5D5247"/>
                </a:solidFill>
              </a:defRPr>
            </a:pPr>
            <a:r>
              <a:rPr sz="2550">
                <a:solidFill>
                  <a:srgbClr val="5D5247"/>
                </a:solidFill>
              </a:rPr>
              <a:t>Why productive struggle matters more than ever in K-12 in the age of generative 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A3AB4-7BB4-416C-A71B-C3868A1A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2819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A241E"/>
                </a:solidFill>
              </a:defRPr>
            </a:pPr>
            <a:r>
              <a:rPr sz="2025" b="1">
                <a:solidFill>
                  <a:srgbClr val="2A241E"/>
                </a:solidFill>
              </a:rPr>
              <a:t>Micah J. Miner, CETL, Ed.S.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F39FFE-BE84-4867-A622-301FE0DC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96000"/>
            <a:ext cx="4286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87C70"/>
                </a:solidFill>
              </a:defRPr>
            </a:pPr>
            <a:r>
              <a:rPr sz="1425">
                <a:solidFill>
                  <a:srgbClr val="887C70"/>
                </a:solidFill>
              </a:rPr>
              <a:t>Director of Innovation &amp; Technology  -  Doctoral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0CD32-5812-4D7A-A720-96D358E4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4350" y="6153150"/>
            <a:ext cx="171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ISTE+ASCD Webinar  -  2026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D3B0427-06B6-4E8C-83C9-7974F2CF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818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A3FF5-5281-4EE6-A915-67810C46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15150"/>
            <a:ext cx="2476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A media-ecological case for K-12 leaders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264D1-789A-4423-B855-5C12397A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69151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185681770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E39517F-CDB2-4104-8472-4EF3F310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2C9807F8-FCD1-4EEA-BDC4-80FE56D4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6E518E18-B94D-4133-B20C-9A93F854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"/>
            <a:ext cx="2057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Opening  -  The framing problem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3D0D6348-0516-4FDC-B18F-E9D2B241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8A9556-94A3-4DF6-8D89-A17E018D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12585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The wrong questions are louder than the right one.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5E5EFF25-8663-4164-8635-FE16A67F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1258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The work is not only to manage tools. It is to understand the learning environment children now inhabit.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236FF-0D9F-4223-9E2C-E68FB121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7258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87C70"/>
                </a:solidFill>
              </a:defRPr>
            </a:pPr>
            <a:r>
              <a:rPr sz="1650" b="1">
                <a:solidFill>
                  <a:srgbClr val="887C70"/>
                </a:solidFill>
              </a:rPr>
              <a:t>Common district questions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73F7F-C247-4059-BAD7-EACA9968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2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5A32"/>
                </a:solidFill>
              </a:defRPr>
            </a:pPr>
            <a:r>
              <a:rPr sz="24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A8D70-F6FB-482B-B29A-CD453000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D5247"/>
                </a:solidFill>
              </a:defRPr>
            </a:pPr>
            <a:r>
              <a:rPr sz="2400">
                <a:solidFill>
                  <a:srgbClr val="5D5247"/>
                </a:solidFill>
              </a:rPr>
              <a:t>Should we ban AI?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A87CB-FDCE-4FF1-A883-010689D4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22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5A32"/>
                </a:solidFill>
              </a:defRPr>
            </a:pPr>
            <a:r>
              <a:rPr sz="24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10CDCD-FF73-41AD-BECF-4F26074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2425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D5247"/>
                </a:solidFill>
              </a:defRPr>
            </a:pPr>
            <a:r>
              <a:rPr sz="2400">
                <a:solidFill>
                  <a:srgbClr val="5D5247"/>
                </a:solidFill>
              </a:rPr>
              <a:t>How do we catch misuse?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D5F20-AD27-48B0-B2F5-28DB7A99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228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5A32"/>
                </a:solidFill>
              </a:defRPr>
            </a:pPr>
            <a:r>
              <a:rPr sz="24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18C86-B041-4761-9918-868AFB3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00500"/>
            <a:ext cx="6896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5D5247"/>
                </a:solidFill>
              </a:defRPr>
            </a:pPr>
            <a:r>
              <a:rPr sz="2400">
                <a:solidFill>
                  <a:srgbClr val="5D5247"/>
                </a:solidFill>
              </a:rPr>
              <a:t>Which vendor should we buy?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62091-B7F2-45E4-B5DB-F549ACCB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885" y="2564130"/>
            <a:ext cx="8863965" cy="6414135"/>
          </a:xfrm>
          <a:prstGeom xmlns:a="http://schemas.openxmlformats.org/drawingml/2006/main" prst="roundRect">
            <a:avLst>
              <a:gd name="adj" fmla="val 1188"/>
            </a:avLst>
          </a:prstGeom>
          <a:solidFill xmlns:a="http://schemas.openxmlformats.org/drawingml/2006/main">
            <a:srgbClr val="191612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66C23-7153-41D0-9715-73C4C713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805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18455"/>
                </a:solidFill>
              </a:defRPr>
            </a:pPr>
            <a:r>
              <a:rPr sz="1650" b="1">
                <a:solidFill>
                  <a:srgbClr val="D18455"/>
                </a:solidFill>
              </a:rPr>
              <a:t>The better question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BD1E3-F6EA-4434-A1EE-F3472651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95650"/>
            <a:ext cx="80581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F7F3EC"/>
                </a:solidFill>
              </a:defRPr>
            </a:pPr>
            <a:r>
              <a:rPr sz="3450" b="0">
                <a:solidFill>
                  <a:srgbClr val="F7F3EC"/>
                </a:solidFill>
              </a:rPr>
              <a:t>What happens to learning when the symbolic environment children think inside is increasingly written by machines?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CF23CD0-8B1A-4D98-9455-8157556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B1BEA0-9097-4FF4-86C4-3277486D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  -  Reframing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59A3A-81F7-42A5-991B-451C5650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8086484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A48427BD-1D0D-4069-8F9E-F2ADCBF6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08900771-01D9-4B3B-866D-7C690EA9D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14FA895C-B543-476C-BE11-4ED6053B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114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Two ways of framing the problem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25CFAF64-32AE-45EC-B413-FD7172AF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3588721-A397-4502-91DE-748D56D7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06489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A policy question, or a question of consciousness.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FD4A17A-DA50-4EC5-8BA6-0E64C34A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10648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Both matter. Only one explains why generative AI changes the developmental conditions of school.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6AC3B-09C5-4A62-A68D-6A5B4076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4210"/>
            <a:ext cx="8105775" cy="5774055"/>
          </a:xfrm>
          <a:prstGeom xmlns:a="http://schemas.openxmlformats.org/drawingml/2006/main" prst="roundRect">
            <a:avLst>
              <a:gd name="adj" fmla="val 1320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4761D-8754-4C41-A258-9E46D64ED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7429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Framing A  -  Tool adoption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F4460-680B-445E-A59E-AFBFD987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33850"/>
            <a:ext cx="742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AI is a productivity tool. Manage it through integrity policies, data privacy, vendor review, and acceptable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6F5BCA-E7A4-42E6-8B2F-C63B9BA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007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Necessary, but incomplete.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56FBA-C37B-4ECD-9CD3-7B50BBE6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04210"/>
            <a:ext cx="8105775" cy="5774055"/>
          </a:xfrm>
          <a:prstGeom xmlns:a="http://schemas.openxmlformats.org/drawingml/2006/main" prst="roundRect">
            <a:avLst>
              <a:gd name="adj" fmla="val 1320"/>
            </a:avLst>
          </a:prstGeom>
          <a:solidFill xmlns:a="http://schemas.openxmlformats.org/drawingml/2006/main">
            <a:srgbClr val="19161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FBD44-DD7A-4ED1-A341-0DBFC7A2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24250"/>
            <a:ext cx="7429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7F3EC"/>
                </a:solidFill>
              </a:defRPr>
            </a:pPr>
            <a:r>
              <a:rPr sz="2850" b="0">
                <a:solidFill>
                  <a:srgbClr val="F7F3EC"/>
                </a:solidFill>
              </a:rPr>
              <a:t>Framing B  -  Media ecology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3A3C48-20FC-488E-8965-9219AD48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133850"/>
            <a:ext cx="7429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E7DED2"/>
                </a:solidFill>
              </a:defRPr>
            </a:pPr>
            <a:r>
              <a:rPr sz="2025">
                <a:solidFill>
                  <a:srgbClr val="E7DED2"/>
                </a:solidFill>
              </a:rPr>
              <a:t>AI is an environment. Each new medium restructures how children remember, attend, reason, compose, and know.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7AA41-FD00-4660-91E6-FCF0849D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00700"/>
            <a:ext cx="742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8455"/>
                </a:solidFill>
              </a:defRPr>
            </a:pPr>
            <a:r>
              <a:rPr sz="1350" b="1">
                <a:solidFill>
                  <a:srgbClr val="D18455"/>
                </a:solidFill>
              </a:rPr>
              <a:t>This is the frame K-12 needs next.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71D5BBE-35A7-44EC-A9EF-13B0D2B7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18726-8F57-406E-8B19-F2987B67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  -  Reframing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4E7DA-7686-4291-ADB7-492A2539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03 / 22</a:t>
            </a:r>
          </a:p>
        </p:txBody>
      </p:sp>
    </p:spTree>
    <p:extLst>
      <p:ext uri="{BB962C8B-B14F-4D97-AF65-F5344CB8AC3E}">
        <p14:creationId xmlns:p14="http://schemas.microsoft.com/office/powerpoint/2010/main" val="120150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039FDEB0-7346-42CA-AB8A-FA9B96A4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25A2861B-76A3-435E-816D-649E816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C562E8E4-CEA6-47AE-A177-D0522423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324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What we'll do in the next 30 minutes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F4BC4457-4647-49C2-AC8A-DA09982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6B8BF4-DE39-4690-8A49-F0ABBC9C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5829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Roadmap.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962351A-3AB6-4A3B-814E-DC62A66E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5829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Four moves from theory to Monday morning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30145-4925-41B8-8783-1FA5A645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5A32"/>
                </a:solidFill>
              </a:defRPr>
            </a:pPr>
            <a:r>
              <a:rPr sz="2100" b="1">
                <a:solidFill>
                  <a:srgbClr val="B25A3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06874-3340-4FF2-8FCF-1B008BC8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76700"/>
            <a:ext cx="1571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Stages of the symbolic environment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64BCA-8D05-4756-A9E3-E41E7908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14850"/>
            <a:ext cx="1571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5247"/>
                </a:solidFill>
              </a:defRPr>
            </a:pPr>
            <a:r>
              <a:rPr sz="1800">
                <a:solidFill>
                  <a:srgbClr val="5D5247"/>
                </a:solidFill>
              </a:rPr>
              <a:t>From oral cultures to algorithmic generation, and where K-12 actually sits.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2CC31-2F19-46D7-8F39-8FE45713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5A32"/>
                </a:solidFill>
              </a:defRPr>
            </a:pPr>
            <a:r>
              <a:rPr sz="2100" b="1">
                <a:solidFill>
                  <a:srgbClr val="B25A3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09E1C-7AD1-41F9-9333-FF542DF5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72050"/>
            <a:ext cx="1571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What this does to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BCA48-82C0-401A-9274-74697095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10200"/>
            <a:ext cx="1571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5247"/>
                </a:solidFill>
              </a:defRPr>
            </a:pPr>
            <a:r>
              <a:rPr sz="1800">
                <a:solidFill>
                  <a:srgbClr val="5D5247"/>
                </a:solidFill>
              </a:rPr>
              <a:t>Productive struggle, unproductive success, and the bypass of cognition.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3FAE2-1958-4E0D-BECC-7E332AD8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5A32"/>
                </a:solidFill>
              </a:defRPr>
            </a:pPr>
            <a:r>
              <a:rPr sz="2100" b="1">
                <a:solidFill>
                  <a:srgbClr val="B25A32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14FC5-5C7B-4644-9A9A-88590739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67400"/>
            <a:ext cx="1571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Pedagogical friction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D7E37A-816A-4FDF-ABE1-162A1DF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286500"/>
            <a:ext cx="1571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5247"/>
                </a:solidFill>
              </a:defRPr>
            </a:pPr>
            <a:r>
              <a:rPr sz="1800">
                <a:solidFill>
                  <a:srgbClr val="5D5247"/>
                </a:solidFill>
              </a:rPr>
              <a:t>Four dimensions of the response framework: head, room, world,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ADAD3-2EB3-4999-A724-C68B9C84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62750"/>
            <a:ext cx="66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25A32"/>
                </a:solidFill>
              </a:defRPr>
            </a:pPr>
            <a:r>
              <a:rPr sz="2100" b="1">
                <a:solidFill>
                  <a:srgbClr val="B25A32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4BE8D-0340-4661-8644-7C1E1937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762750"/>
            <a:ext cx="15716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What changes Monday morning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6EA91-624E-42F8-8755-D8583241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7181850"/>
            <a:ext cx="1571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5247"/>
                </a:solidFill>
              </a:defRPr>
            </a:pPr>
            <a:r>
              <a:rPr sz="1800">
                <a:solidFill>
                  <a:srgbClr val="5D5247"/>
                </a:solidFill>
              </a:rPr>
              <a:t>Curriculum, advocacy, and policy moves for K-12 leaders.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BE79A07-DABA-4831-B3F2-42300776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A62C9-1BFD-4AD8-8967-E9B26240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352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  -  Reframing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7AD26-477C-4653-8128-3AED7728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04 / 22</a:t>
            </a:r>
          </a:p>
        </p:txBody>
      </p:sp>
    </p:spTree>
    <p:extLst>
      <p:ext uri="{BB962C8B-B14F-4D97-AF65-F5344CB8AC3E}">
        <p14:creationId xmlns:p14="http://schemas.microsoft.com/office/powerpoint/2010/main" val="14874326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255D859B-2110-4959-B248-B62237AE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96273216-F37D-41B5-8C2E-30178432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B5F8CCB3-D04B-4977-A574-003268E3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1657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Part One  -  Media Ecology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477F6308-3E10-4CDC-8E6A-3FFB4216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A778A-0825-4E70-8951-922EEBD3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BC5E-9156-435C-A1D4-050EB279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2288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5A32"/>
                </a:solidFill>
              </a:defRPr>
            </a:pPr>
            <a:r>
              <a:rPr sz="1425" b="1">
                <a:solidFill>
                  <a:srgbClr val="B25A32"/>
                </a:solidFill>
              </a:rPr>
              <a:t>PART ONE  -  MEDIA ECOLOGY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691E1-1BCD-44C8-B7AD-4C4C4CB4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1391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2A241E"/>
                </a:solidFill>
              </a:defRPr>
            </a:pPr>
            <a:r>
              <a:rPr sz="5700" b="0">
                <a:solidFill>
                  <a:srgbClr val="2A241E"/>
                </a:solidFill>
              </a:rPr>
              <a:t>Stages of the symbolic environment.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3F828-1800-49C2-897C-174804C4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1391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D5247"/>
                </a:solidFill>
              </a:defRPr>
            </a:pPr>
            <a:r>
              <a:rPr sz="2325">
                <a:solidFill>
                  <a:srgbClr val="5D5247"/>
                </a:solidFill>
              </a:rPr>
              <a:t>Each new medium reorganizes the cognition that lives inside it. K-12 is now negotiating the first transition in which content itself is generated by machines.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66CCB2D-778C-4FE2-AB80-A2AFA3FE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921C9-143E-4BF5-A315-19CB273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Walter Ong  -  post-Ong media ecology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F4BCC4-434E-4B37-8A3C-20807A1E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58483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05 / 22</a:t>
            </a:r>
          </a:p>
        </p:txBody>
      </p:sp>
    </p:spTree>
    <p:extLst>
      <p:ext uri="{BB962C8B-B14F-4D97-AF65-F5344CB8AC3E}">
        <p14:creationId xmlns:p14="http://schemas.microsoft.com/office/powerpoint/2010/main" val="2862091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BDB87121-C3CD-4893-A091-59B01A38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2FCB7C46-D277-4F14-8E16-8E93E677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0B68DDA1-FC64-48B0-B24C-11881F41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"/>
            <a:ext cx="24193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The developmental account, extended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EF593C30-5D62-4726-A130-952302D6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287EC1-BB3C-456A-A531-FFA89AAD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0706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Five stages, not three.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EE2D31E-FFC9-44EB-898E-20F10635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706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Ong gave us oral, literate, and broadcast cultures. The current moment requires two further stages.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ECF68-9F91-4356-AD52-E2245C4E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4170"/>
            <a:ext cx="3329940" cy="60940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60A25D-66C0-4150-9DFE-D1FAC4CF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STAGE 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120D3-7F12-4E4F-9BFD-AE758ECB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290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Primary orality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20435-51F3-4A51-BD92-D2FC3559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5247"/>
                </a:solidFill>
              </a:defRPr>
            </a:pPr>
            <a:r>
              <a:rPr sz="1650">
                <a:solidFill>
                  <a:srgbClr val="5D5247"/>
                </a:solidFill>
              </a:rPr>
              <a:t>Memory-based, communal, formulaic.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94D24-5ED2-41DA-8922-449E552C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006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PRE-LITERATE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952BB-5387-4A48-A2FD-8A823527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090" y="2884170"/>
            <a:ext cx="3329940" cy="60940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0A51E-0A05-40B5-A1E9-7397D65D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STAGE 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42E50-5CC4-40D1-8D94-BA7C6FD5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290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Literacy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D32C9-C6CA-43C2-A21E-CEBE6146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2430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5247"/>
                </a:solidFill>
              </a:defRPr>
            </a:pPr>
            <a:r>
              <a:rPr sz="1650">
                <a:solidFill>
                  <a:srgbClr val="5D5247"/>
                </a:solidFill>
              </a:rPr>
              <a:t>Writing externalizes memory and supports abstraction.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2432F-220D-49AB-9438-DEEC7BCF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006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PRINT ERA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8FFE5-5C77-4E9C-A601-9E3ECA40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030" y="2884170"/>
            <a:ext cx="3329940" cy="60940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43A05-75FD-40C6-AEC6-B5F9FB94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STAGE 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5FA1AD-5C61-494F-9C0E-27ED78B5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Secondary orality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E54F32-5ADC-41C3-8952-666C1ECD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2430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5247"/>
                </a:solidFill>
              </a:defRPr>
            </a:pPr>
            <a:r>
              <a:rPr sz="1650">
                <a:solidFill>
                  <a:srgbClr val="5D5247"/>
                </a:solidFill>
              </a:rPr>
              <a:t>Broadcast retrieves orality inside literate infrastructure.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313F6-B55A-499D-8347-09DF4AB5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006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RADIO  -  TV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2C6F93-0FFC-4CDC-A9E3-9E3FE6E8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70" y="2884170"/>
            <a:ext cx="3329940" cy="60940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40C1BA-B879-499F-A444-CB9FCB48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1051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STAGE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E0E29F-C4FE-470E-B5B3-9ED384FC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429000"/>
            <a:ext cx="2952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Algorithmic secondary orality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466D52-900A-43BD-BBE3-0B495A413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26720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5247"/>
                </a:solidFill>
              </a:defRPr>
            </a:pPr>
            <a:r>
              <a:rPr sz="1650">
                <a:solidFill>
                  <a:srgbClr val="5D5247"/>
                </a:solidFill>
              </a:rPr>
              <a:t>Humans author; algorithms decide what reaches whom.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009658-B4B1-499F-8520-E7015849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55626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SOCIAL  -  2005-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65305-0548-4FBE-8998-C6880C43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8910" y="2884170"/>
            <a:ext cx="3329940" cy="609409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612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57459-B651-4F52-AB34-808EDDA6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1051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18455"/>
                </a:solidFill>
              </a:defRPr>
            </a:pPr>
            <a:r>
              <a:rPr sz="1200" b="1">
                <a:solidFill>
                  <a:srgbClr val="D18455"/>
                </a:solidFill>
              </a:rPr>
              <a:t>STAGE 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84987-144A-4015-AF68-3D36AF0D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42900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7F3EC"/>
                </a:solidFill>
              </a:defRPr>
            </a:pPr>
            <a:r>
              <a:rPr sz="2325" b="0">
                <a:solidFill>
                  <a:srgbClr val="F7F3EC"/>
                </a:solidFill>
              </a:rPr>
              <a:t>Tertiary algorithmicity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39488C-B476-4B4B-8824-CA3A74DB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3924300"/>
            <a:ext cx="2952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5D9CA"/>
                </a:solidFill>
              </a:defRPr>
            </a:pPr>
            <a:r>
              <a:rPr sz="1650">
                <a:solidFill>
                  <a:srgbClr val="E5D9CA"/>
                </a:solidFill>
              </a:rPr>
              <a:t>Machines both curate and generate symbolic content.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B374E-E22C-470E-BA7E-6CC41363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25600" y="520065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FB4A5"/>
                </a:solidFill>
              </a:defRPr>
            </a:pPr>
            <a:r>
              <a:rPr sz="1200">
                <a:solidFill>
                  <a:srgbClr val="BFB4A5"/>
                </a:solidFill>
              </a:rPr>
              <a:t>GENAI  -  2022-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D0A1F5E-955B-405D-83DF-9C38788B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0E1C07-5AA1-4B2A-B5C2-A4B8545B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II  -  Theoretical framework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D83853-3DF9-40F2-AC82-B1CE740D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1683065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57F6F204-7BDD-4590-A12D-79303591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49B8AAF2-D5C6-4912-B84C-AA204D96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602CCE3E-6535-4C13-ABC4-C6946BED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000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Why we need a new stage at all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BFB377C8-B820-4F2D-B786-C3F7F4C3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2B6FBE-9A2B-4836-B175-D9F505DF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043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Three assumptions no longer hold.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2292F90-E12C-4CF2-B0C4-3F7CDA6E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43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The media environment now changes origin, distribution, and the learner's relation to the world.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152FA-D841-4F67-A10B-01C42515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4170"/>
            <a:ext cx="5334000" cy="6094095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67FD-86D1-4CD0-8F88-B31725F2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5A32"/>
                </a:solidFill>
              </a:defRPr>
            </a:pPr>
            <a:r>
              <a:rPr sz="1650" b="1">
                <a:solidFill>
                  <a:srgbClr val="B25A3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63F44-4C66-4B1D-BD86-D7AFBA55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468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Humans originate the content.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D1C36-AA8E-4058-A085-0F038673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5247"/>
                </a:solidFill>
              </a:defRPr>
            </a:pPr>
            <a:r>
              <a:rPr sz="1800">
                <a:solidFill>
                  <a:srgbClr val="5D5247"/>
                </a:solidFill>
              </a:rPr>
              <a:t>Neural networks now produce essays, summaries, analyses, and images without human authorship in the traditional sense.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EECA7E-A51A-4B04-9373-7030967D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84170"/>
            <a:ext cx="5334000" cy="6094095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562FC-DAE5-4716-A4A7-190688A8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5A32"/>
                </a:solidFill>
              </a:defRPr>
            </a:pPr>
            <a:r>
              <a:rPr sz="1650" b="1">
                <a:solidFill>
                  <a:srgbClr val="B25A3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3F274-A164-4467-BACD-D942C067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68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Distribution is transparent.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5E659-0A94-4E7A-8CD3-A61EB0DE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191000"/>
            <a:ext cx="4686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5247"/>
                </a:solidFill>
              </a:defRPr>
            </a:pPr>
            <a:r>
              <a:rPr sz="1800">
                <a:solidFill>
                  <a:srgbClr val="5D5247"/>
                </a:solidFill>
              </a:rPr>
              <a:t>Two students opening the same app may see different content, curated by opaque systems.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CC510-50CA-47DC-B9AE-92525163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2884170"/>
            <a:ext cx="5334000" cy="6094095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80A95-8C39-44B0-B1CB-FAC25EA7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00400"/>
            <a:ext cx="468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25A32"/>
                </a:solidFill>
              </a:defRPr>
            </a:pPr>
            <a:r>
              <a:rPr sz="1650" b="1">
                <a:solidFill>
                  <a:srgbClr val="B25A3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D6A969-328B-4DC0-9A20-101DC4D9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638550"/>
            <a:ext cx="4686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Media remains external.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88549E-9BAC-49C9-A139-B09B6AF1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191000"/>
            <a:ext cx="46863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D5247"/>
                </a:solidFill>
              </a:defRPr>
            </a:pPr>
            <a:r>
              <a:rPr sz="1800">
                <a:solidFill>
                  <a:srgbClr val="5D5247"/>
                </a:solidFill>
              </a:rPr>
              <a:t>Personalized environments can reflect a child's prior behavior back, reducing the disequilibrium learning requires.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26EC08D-4E0B-4951-8112-E080EF8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F63176-B214-4E51-A890-6AF9B8BF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II  -  Theoretical framework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45C03-BAE2-45C9-A5B9-066B50EE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07 / 22</a:t>
            </a:r>
          </a:p>
        </p:txBody>
      </p:sp>
    </p:spTree>
    <p:extLst>
      <p:ext uri="{BB962C8B-B14F-4D97-AF65-F5344CB8AC3E}">
        <p14:creationId xmlns:p14="http://schemas.microsoft.com/office/powerpoint/2010/main" val="1570071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97FEDAE3-BF7C-41A7-B448-8C1D2C8C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52F452F3-702C-4CC4-82E4-9142E0D1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5736366B-2336-44A7-92DE-EA46EB5D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305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The proposed stage, in one sentence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99ECFC0D-ED8A-4506-921E-2E16130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D1B678-C4D5-4377-BC7B-BD5FC106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0CC95-3841-402A-8C54-161502FA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1428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25A32"/>
                </a:solidFill>
              </a:defRPr>
            </a:pPr>
            <a:r>
              <a:rPr sz="1800" b="1">
                <a:solidFill>
                  <a:srgbClr val="B25A32"/>
                </a:solidFill>
              </a:rPr>
              <a:t>Tertiary algorithmicity (n.)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65D321-EC82-45B5-BC06-C6BAD6EE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3811250" cy="2476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2A241E"/>
                </a:solidFill>
              </a:defRPr>
            </a:pPr>
            <a:r>
              <a:rPr sz="5400" b="0">
                <a:solidFill>
                  <a:srgbClr val="2A241E"/>
                </a:solidFill>
              </a:rPr>
              <a:t>The condition in which algorithmic systems both curate and generate the symbolic content children learn inside.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7DFF73-153F-4820-BA20-E9E3494DC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428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B25A32"/>
                </a:solidFill>
              </a:defRPr>
            </a:pPr>
            <a:r>
              <a:rPr sz="2550">
                <a:solidFill>
                  <a:srgbClr val="B25A32"/>
                </a:solidFill>
              </a:rPr>
              <a:t>This makes human authorship optional at scale.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FA638DA-E898-428C-B78A-D04CE051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91515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91C45A-82A0-4265-B038-7C80994E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29450"/>
            <a:ext cx="2076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III  -  Proposed extensions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1E7BF-6EF0-48D8-9854-AB4A58F5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70294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08 / 22</a:t>
            </a:r>
          </a:p>
        </p:txBody>
      </p:sp>
    </p:spTree>
    <p:extLst>
      <p:ext uri="{BB962C8B-B14F-4D97-AF65-F5344CB8AC3E}">
        <p14:creationId xmlns:p14="http://schemas.microsoft.com/office/powerpoint/2010/main" val="3713982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A1F6CFD2-BD7D-4D3F-9057-F56AD04D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EE5B43FE-D95D-44EB-9EDC-BF63A32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BA900267-B798-41CB-A1FF-FF90FFB3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552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What's new about this stage, specifically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76EA8B1C-6A01-4E0C-934C-D6B8C9C0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09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0F2126-B301-4D62-9C78-266366A2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78676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Three characteristics of the new stage.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B699FDB5-799B-4F61-8466-907B9718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7867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Each one names a pressure point for teaching, learning, and governance.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5C511-D331-4EE6-BB08-6CA4F19F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0CDC7E-3507-4DBD-A740-589D7638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81650"/>
            <a:ext cx="5314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Noetic displacement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84428-6035-4100-9AB4-9A8BFFE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5314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Meaning-making can be performed by a system that has never had an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829F34-A70F-4266-810B-00D2BE6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866E5-2B1E-4A23-8875-D133BE9A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81650"/>
            <a:ext cx="5314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Rhetorical saturation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E85B2-F6FA-4561-82D4-0D8A7E1A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91250"/>
            <a:ext cx="5314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Fluent prose floods every channel, weakening the signal of competent thought.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401EC-6CD2-4E78-B811-886A6318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3721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C8E8A-CDEE-44D2-A3FA-C4CDFE4F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581650"/>
            <a:ext cx="5314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Existential abstraction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BAA08-59D3-427A-B50A-53D51161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191250"/>
            <a:ext cx="5314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The link between a claim and the person making it becomes less stable.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542C19-5649-4413-A8AA-0345D776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40FBA-57C0-4809-ADAA-0669527A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20764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III  -  Proposed extensions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D50C61-AC8E-4E66-B991-7FC761DB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09 / 22</a:t>
            </a:r>
          </a:p>
        </p:txBody>
      </p:sp>
    </p:spTree>
    <p:extLst>
      <p:ext uri="{BB962C8B-B14F-4D97-AF65-F5344CB8AC3E}">
        <p14:creationId xmlns:p14="http://schemas.microsoft.com/office/powerpoint/2010/main" val="18838170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73730CA7-4E67-4DB5-B19E-BAB8EA9B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B34D7664-C59F-4575-9F0B-10B0BE8E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9975FB7A-875B-4609-BA44-B6BC846B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Part Two  -  Learning Science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7FFD5488-8DE4-452E-80C9-45143540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9AB01-E4AD-4440-813C-C9233B7C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9C59C6-AF1C-4276-83FD-06BF19FE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457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5A32"/>
                </a:solidFill>
              </a:defRPr>
            </a:pPr>
            <a:r>
              <a:rPr sz="1425" b="1">
                <a:solidFill>
                  <a:srgbClr val="B25A32"/>
                </a:solidFill>
              </a:rPr>
              <a:t>PART TWO  -  LEARNING SCIENCE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A7CD6-6D36-4B55-9138-AA60918E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17538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2A241E"/>
                </a:solidFill>
              </a:defRPr>
            </a:pPr>
            <a:r>
              <a:rPr sz="5700" b="0">
                <a:solidFill>
                  <a:srgbClr val="2A241E"/>
                </a:solidFill>
              </a:rPr>
              <a:t>What this does to a child who is learning.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8BF9E-0DDE-4723-B5C2-2AA1A2AF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1753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D5247"/>
                </a:solidFill>
              </a:defRPr>
            </a:pPr>
            <a:r>
              <a:rPr sz="2325">
                <a:solidFill>
                  <a:srgbClr val="5D5247"/>
                </a:solidFill>
              </a:rPr>
              <a:t>Durable learning requires productive struggle. Tertiary algorithmicity makes that struggle optional.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2ED0B60-4205-422F-BBD4-52EF8F51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DF22C-0DD6-4A32-A71C-7B5A84F7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53150"/>
            <a:ext cx="34099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Dewey  -  Piaget  -  Vygotsky  -  Kapur  -  Bjork  -  Sweller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B3210-98CC-45B5-824D-5A174A70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61531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4056606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883C5EA-00DC-4D36-86FF-30ADF38B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FCEB5C75-4E05-4042-9F2C-B0ED8CE5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6620F853-77C0-4481-B986-7A0294E0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Kapur's four quadrants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10257389-7E3F-4EC3-846F-3CBE2E49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1FEDCB-CB8F-49A1-9CD5-8F88D09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63627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Performance is not the same as learning.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9C75FC47-E7D3-46D7-AE53-B9F7F45C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6362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Kapur's 2x2 names the precise risk of generative AI in K-12.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3A76F-B26F-43D6-94C1-1326ADE6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8229600" cy="2631758"/>
          </a:xfrm>
          <a:prstGeom xmlns:a="http://schemas.openxmlformats.org/drawingml/2006/main" prst="roundRect">
            <a:avLst>
              <a:gd name="adj" fmla="val 2895"/>
            </a:avLst>
          </a:prstGeom>
          <a:solidFill xmlns:a="http://schemas.openxmlformats.org/drawingml/2006/main">
            <a:srgbClr val="19161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C2BF8-E463-44BA-80FC-783CADDD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8455"/>
                </a:solidFill>
              </a:defRPr>
            </a:pPr>
            <a:r>
              <a:rPr sz="1350" b="1">
                <a:solidFill>
                  <a:srgbClr val="D18455"/>
                </a:solidFill>
              </a:rPr>
              <a:t>Quadrant of concern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AAEC2-6D27-4EEF-82C1-A93CFC91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769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7F3EC"/>
                </a:solidFill>
              </a:defRPr>
            </a:pPr>
            <a:r>
              <a:rPr sz="2550" b="0">
                <a:solidFill>
                  <a:srgbClr val="F7F3EC"/>
                </a:solidFill>
              </a:rPr>
              <a:t>Unproductive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8BC4B-703D-4D83-835A-0F96CF6E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72000"/>
            <a:ext cx="7696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8DED2"/>
                </a:solidFill>
              </a:defRPr>
            </a:pPr>
            <a:r>
              <a:rPr sz="1650">
                <a:solidFill>
                  <a:srgbClr val="E8DED2"/>
                </a:solidFill>
              </a:rPr>
              <a:t>Correct output. No schema construction. The artifact looks like learning; the learning never occurred.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29298-8BE3-4A7A-BB52-4CB5B565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24250"/>
            <a:ext cx="8229600" cy="2631758"/>
          </a:xfrm>
          <a:prstGeom xmlns:a="http://schemas.openxmlformats.org/drawingml/2006/main" prst="roundRect">
            <a:avLst>
              <a:gd name="adj" fmla="val 2895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07740F-29F5-4DEE-BD47-B216963F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5285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Goal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D9C17-ADFC-4D9B-AB02-7562DBD5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76700"/>
            <a:ext cx="769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Productive success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069EE0-ECC7-4417-8E09-7FCA2F9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5720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5247"/>
                </a:solidFill>
              </a:defRPr>
            </a:pPr>
            <a:r>
              <a:rPr sz="1650">
                <a:solidFill>
                  <a:srgbClr val="5D5247"/>
                </a:solidFill>
              </a:rPr>
              <a:t>Correct output and genuine understanding. The student wrestled with the material.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4EBDE-88FB-475B-B597-A8B014D9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46508"/>
            <a:ext cx="8229600" cy="2631758"/>
          </a:xfrm>
          <a:prstGeom xmlns:a="http://schemas.openxmlformats.org/drawingml/2006/main" prst="roundRect">
            <a:avLst>
              <a:gd name="adj" fmla="val 2895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202EEF-2F15-4E0B-A8C3-BA1F4294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7225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Avoid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0B55E-DA2A-436F-B6FF-BF8BDCAA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96100"/>
            <a:ext cx="769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Unproductive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DEC75-A8C7-4281-A7FD-F8470DA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91400"/>
            <a:ext cx="7696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5247"/>
                </a:solidFill>
              </a:defRPr>
            </a:pPr>
            <a:r>
              <a:rPr sz="1650">
                <a:solidFill>
                  <a:srgbClr val="5D5247"/>
                </a:solidFill>
              </a:rPr>
              <a:t>Wrong output, no growth. The task exceeded reach without scaffolding.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BE4C2-0AF5-48B7-8C20-4403BF5D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346508"/>
            <a:ext cx="8229600" cy="2631758"/>
          </a:xfrm>
          <a:prstGeom xmlns:a="http://schemas.openxmlformats.org/drawingml/2006/main" prst="roundRect">
            <a:avLst>
              <a:gd name="adj" fmla="val 2895"/>
            </a:avLst>
          </a:prstGeom>
          <a:solidFill xmlns:a="http://schemas.openxmlformats.org/drawingml/2006/main">
            <a:srgbClr val="EFE7DC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9198F-6359-4264-8039-E6B2ABB1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72250"/>
            <a:ext cx="7696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Often the path to mastery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14DF54-2223-441D-8A5F-E6725260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896100"/>
            <a:ext cx="7696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A241E"/>
                </a:solidFill>
              </a:defRPr>
            </a:pPr>
            <a:r>
              <a:rPr sz="2550" b="0">
                <a:solidFill>
                  <a:srgbClr val="2A241E"/>
                </a:solidFill>
              </a:rPr>
              <a:t>Productive failure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82A8A-A102-44B4-A0CA-934515D0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7391400"/>
            <a:ext cx="76962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D5247"/>
                </a:solidFill>
              </a:defRPr>
            </a:pPr>
            <a:r>
              <a:rPr sz="1650">
                <a:solidFill>
                  <a:srgbClr val="5D5247"/>
                </a:solidFill>
              </a:rPr>
              <a:t>Wrong output, real learning. Struggle activates prior knowledge and prepares future learning.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3C65866-48E0-4579-AD79-01C6B887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BA939-C4FB-4671-A2B9-DE2C5B16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IV  -  Educational stakes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40034-A76B-4793-B454-612091AC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89443960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68CAEA0-153E-4B31-9409-D210DD5C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5D5B34B9-7F0C-4067-8720-824BD4DA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E01AFFC8-CFFB-4296-A662-1F5CEB45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The central educational threat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98E30D48-DF11-4133-989A-C3E2735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B645E-FD26-40C5-B609-C0690CE3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1035E-0F66-485D-872F-77DFD1A4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428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25A32"/>
                </a:solidFill>
              </a:defRPr>
            </a:pPr>
            <a:r>
              <a:rPr sz="1800" b="1">
                <a:solidFill>
                  <a:srgbClr val="B25A32"/>
                </a:solidFill>
              </a:rPr>
              <a:t>Unproductive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249D7-9A0B-4BA8-8C7F-A0689B31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38112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2A241E"/>
                </a:solidFill>
              </a:defRPr>
            </a:pPr>
            <a:r>
              <a:rPr sz="5700" b="0">
                <a:solidFill>
                  <a:srgbClr val="2A241E"/>
                </a:solidFill>
              </a:rPr>
              <a:t>The artifact of learning remains visible. The process of learning becomes optional.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5FAA5-ED25-4710-BF84-9DB71E3B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24400"/>
            <a:ext cx="1428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87C70"/>
                </a:solidFill>
              </a:defRPr>
            </a:pPr>
            <a:r>
              <a:rPr sz="1500">
                <a:solidFill>
                  <a:srgbClr val="887C70"/>
                </a:solidFill>
              </a:rPr>
              <a:t>After Kapur (2016), applied to K-12 under tertiary algorithmicity.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0E5A073-0607-4E92-9431-9E578E25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0A956-19DC-4076-8895-008113C8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7695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IV  -  Educational stakes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FA897-FE50-4529-BC19-8488A4AD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60769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171756635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AECFEEA-6D0C-400A-B3C5-81051DA1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6F9FCFE8-219A-40DB-85D6-D74866B2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41F09680-F8E5-42F0-9712-7EAF1A97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209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A common mistake in K-12 framing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A998D569-38A5-4E3A-BBEF-701B4CA1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79F45B-6BC3-4C13-B164-41E2D226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69723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This is not, primarily, an academic integrity problem.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A8CC60B-69D3-44CD-8C0A-8143CD4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6972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Integrity matters, but it is not the deepest educational diagnosis.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E6BFA-F4D6-4142-A12F-5D7551C1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8124825" cy="5454015"/>
          </a:xfrm>
          <a:prstGeom xmlns:a="http://schemas.openxmlformats.org/drawingml/2006/main" prst="roundRect">
            <a:avLst>
              <a:gd name="adj" fmla="val 1397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5EF18-8624-4F61-9003-66C2C64C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7486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The integrity 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C47D4-E889-4C32-98D0-83CD7B46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7486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Locates the problem in students who cheat. Solves it with detection tools, honor codes, and locked browsers.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1F5D0-56B3-4DAE-A58F-65BA52F0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24550"/>
            <a:ext cx="748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Necessary, but aimed at too narrow a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76E8F-A595-426D-A73E-24A43F2B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524250"/>
            <a:ext cx="8124825" cy="5454015"/>
          </a:xfrm>
          <a:prstGeom xmlns:a="http://schemas.openxmlformats.org/drawingml/2006/main" prst="roundRect">
            <a:avLst>
              <a:gd name="adj" fmla="val 1397"/>
            </a:avLst>
          </a:prstGeom>
          <a:solidFill xmlns:a="http://schemas.openxmlformats.org/drawingml/2006/main">
            <a:srgbClr val="19161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E36B7B-CE53-488F-B56C-4362843A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48100"/>
            <a:ext cx="74866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7F3EC"/>
                </a:solidFill>
              </a:defRPr>
            </a:pPr>
            <a:r>
              <a:rPr sz="2850" b="0">
                <a:solidFill>
                  <a:srgbClr val="F7F3EC"/>
                </a:solidFill>
              </a:rPr>
              <a:t>The developmental frame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BB300-A56E-48F7-B00A-20D8F81F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57700"/>
            <a:ext cx="74866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7F3EC"/>
                </a:solidFill>
              </a:defRPr>
            </a:pPr>
            <a:r>
              <a:rPr sz="2025">
                <a:solidFill>
                  <a:srgbClr val="F7F3EC"/>
                </a:solidFill>
              </a:rPr>
              <a:t>Locates the problem in the media environment itself, whose default tendency is to bypass cognitive labor.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A3499-B313-4D21-8FBB-0277C064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924550"/>
            <a:ext cx="7486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8455"/>
                </a:solidFill>
              </a:defRPr>
            </a:pPr>
            <a:r>
              <a:rPr sz="1350" b="1">
                <a:solidFill>
                  <a:srgbClr val="D18455"/>
                </a:solidFill>
              </a:rPr>
              <a:t>Students are not lazy. The path of least resistance changed.</a:t>
            </a:r>
          </a:p>
        </p:txBody>
      </p:sp>
      <p:sp>
        <p:nvSpPr>
          <p:cNvPr id="1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25CCCD2-BE3B-49A3-B08D-E532C172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92062A-7303-4F24-A201-FDB1E618B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IV  -  Educational stakes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380DE-5405-4741-A9C9-82853522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126004740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345A668-331A-42D6-97B1-7A97DA9F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5401B98F-11C8-47FA-803C-4995AE71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215EC518-2E34-4F9C-AB79-80560543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"/>
            <a:ext cx="25146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What's at risk inside the K-12 classroom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6070AE83-4EAB-4613-B0B9-73848019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1DEF04-8135-4459-8E8E-EE92D70C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6286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Three losses, K-12 specific.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264C13E6-163E-484C-BA7D-29BCF632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6286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The stakes are developmental before they are disciplinary.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88626-9381-4E51-AE80-B1C191D2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5314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Attention &amp; the sensorium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7ECEF-58A2-4DDD-838A-EE4A6087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45756C-84FA-4C24-96E6-191E8D6A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86450"/>
            <a:ext cx="531495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Feeds reward rapid consumption over deliberation. Generated content adds fluency and volume.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8701C-2B7D-4D82-96C5-E1CBD546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9700"/>
            <a:ext cx="5314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Knowledge &amp;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D2272-0F04-453D-B7F5-5332984F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8102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C21C54-F1BB-4483-B24F-84474E59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38850"/>
            <a:ext cx="5314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Students must evaluate claims whose origin and authority are uncertain.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48A69-71DC-40BD-9862-9ADD7BB0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219700"/>
            <a:ext cx="5314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A241E"/>
                </a:solidFill>
              </a:defRPr>
            </a:pPr>
            <a:r>
              <a:rPr sz="2850" b="0">
                <a:solidFill>
                  <a:srgbClr val="2A241E"/>
                </a:solidFill>
              </a:rPr>
              <a:t>Agency &amp; authorship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BE3E4-6E7E-4246-8650-4CBC4C10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58102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D3A369-956F-4EA3-9002-4A37AA57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3900" y="6038850"/>
            <a:ext cx="53149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Creative and epistemic agency become distributed between child and system.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5DC5E98-9AD6-42DF-8E18-C1CCCBCE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E47B0-CC61-4686-83B6-AEA28F13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943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IV  -  Educational stakes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9EA24-E0F9-49D8-B04E-A74B2D55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39064473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C26EBC0F-B146-4438-B6E3-B880F0EC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259F9431-2608-4952-B0FC-75B5C3DA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A094C418-17C0-4E4C-9222-1E792346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324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Part Three  -  A Response Framework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FB8F6E0A-3D75-4988-BBEF-7F1F0BBF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8B9C8-7853-4996-A138-D3AC7EFE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844BA-D980-4860-988E-05DA1EDF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124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5A32"/>
                </a:solidFill>
              </a:defRPr>
            </a:pPr>
            <a:r>
              <a:rPr sz="1425" b="1">
                <a:solidFill>
                  <a:srgbClr val="B25A32"/>
                </a:solidFill>
              </a:rPr>
              <a:t>PART THREE  -  A RESPONSE FRAMEWORK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D03BF-7E45-4FFC-9B88-A152003B4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24015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2A241E"/>
                </a:solidFill>
              </a:defRPr>
            </a:pPr>
            <a:r>
              <a:rPr sz="5700" b="0">
                <a:solidFill>
                  <a:srgbClr val="2A241E"/>
                </a:solidFill>
              </a:rPr>
              <a:t>Pedagogical friction.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0926A-F967-48F8-8D11-9CCFCE74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124015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D5247"/>
                </a:solidFill>
              </a:defRPr>
            </a:pPr>
            <a:r>
              <a:rPr sz="2325">
                <a:solidFill>
                  <a:srgbClr val="5D5247"/>
                </a:solidFill>
              </a:rPr>
              <a:t>Not a call to make school harder. A call to protect the specific difficulties that learning depends on when the medium defaults to removing them.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B724D7E-4007-4255-A62E-4B43B4E4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3405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7D854-D563-464A-8CCF-6FB48CF0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48350"/>
            <a:ext cx="1981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V  -  Pedagogical friction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80C22-F8B5-4C8C-ADC2-F0E3E745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58483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25299946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1C79612-4C16-42B0-8CFE-41E0FD51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437F6846-0FE4-420B-B872-AD52E6DC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6FBC1B54-49B6-4671-97B3-3A8C56FA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628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Definition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19F16A5C-1A02-433A-8C45-E6A3585A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7FE45-C0CE-4DAE-8BB2-B4471CF2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8FF8E9-66CE-471F-A68A-BF9CFA48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4478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25A32"/>
                </a:solidFill>
              </a:defRPr>
            </a:pPr>
            <a:r>
              <a:rPr sz="1800" b="1">
                <a:solidFill>
                  <a:srgbClr val="B25A32"/>
                </a:solidFill>
              </a:rPr>
              <a:t>Pedagogical friction (n.)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60E04-FC8E-47C2-9182-A366920A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62250"/>
            <a:ext cx="14097000" cy="2400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250" b="0">
                <a:solidFill>
                  <a:srgbClr val="2A241E"/>
                </a:solidFill>
              </a:defRPr>
            </a:pPr>
            <a:r>
              <a:rPr sz="5250" b="0">
                <a:solidFill>
                  <a:srgbClr val="2A241E"/>
                </a:solidFill>
              </a:rPr>
              <a:t>The intentional preservation of the cognitive, dialogic, and existential resistance that durable learning requires.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92A0B6-7034-493A-A0B5-4B2BF4F5F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4478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B25A32"/>
                </a:solidFill>
              </a:defRPr>
            </a:pPr>
            <a:r>
              <a:rPr sz="2325">
                <a:solidFill>
                  <a:srgbClr val="B25A32"/>
                </a:solidFill>
              </a:rPr>
              <a:t>In physics, friction is energy lost. In pedagogy, it is the energy through which development occurs.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9E18EB8-F187-4897-9CDC-3E57A63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7437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A0A17-5C4C-4BBC-B602-2A203B3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77050"/>
            <a:ext cx="1981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V  -  Pedagogical friction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7BC40B-5A81-4CCC-99CF-DC77391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68770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451591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3102FF36-8118-4439-9C32-929DDEE9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0D67D878-DEA4-40DB-ACB0-21CE292C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3E741AC7-CE2C-41A0-AC3D-B0D308C4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057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The framework, four dimensions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5167C7D6-506E-4FBA-A35A-FCD11284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F211A7-443B-4F61-81A0-9A091E26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9563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Four dimensions of friction.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099303B2-3A4C-4E32-86AF-C91D28D4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95631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Three phenomenological, one structural. Together they specify what K-12 has to protect.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30DB6-19E4-4362-9A47-16ABE611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4170"/>
            <a:ext cx="4033838" cy="6094095"/>
          </a:xfrm>
          <a:prstGeom xmlns:a="http://schemas.openxmlformats.org/drawingml/2006/main" prst="roundRect">
            <a:avLst>
              <a:gd name="adj" fmla="val 1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39A6C-939F-4914-8226-7C5F5CF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5A32"/>
                </a:solidFill>
              </a:defRPr>
            </a:pPr>
            <a:r>
              <a:rPr sz="1275" b="1">
                <a:solidFill>
                  <a:srgbClr val="B25A32"/>
                </a:solidFill>
              </a:rPr>
              <a:t>The Head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07FA1-27C0-4D9B-9F22-2095F148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Noetic friction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907CA4-2A94-48A9-86F5-2BB03871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5247"/>
                </a:solidFill>
              </a:defRPr>
            </a:pPr>
            <a:r>
              <a:rPr sz="1575">
                <a:solidFill>
                  <a:srgbClr val="5D5247"/>
                </a:solidFill>
              </a:rPr>
              <a:t>Comprehension, synthesis, and revising one's own thinking.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D98F2-8A69-4027-8FF6-5B4B79E5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05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65D27A-A084-4CDF-9082-2423243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387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Threat  -  Bypass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7B19A-7EB5-4575-B460-79E7ADF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438" y="2884170"/>
            <a:ext cx="4033838" cy="6094095"/>
          </a:xfrm>
          <a:prstGeom xmlns:a="http://schemas.openxmlformats.org/drawingml/2006/main" prst="roundRect">
            <a:avLst>
              <a:gd name="adj" fmla="val 1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0DD40-734F-46DF-A770-64D39A04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5A32"/>
                </a:solidFill>
              </a:defRPr>
            </a:pPr>
            <a:r>
              <a:rPr sz="1275" b="1">
                <a:solidFill>
                  <a:srgbClr val="B25A32"/>
                </a:solidFill>
              </a:rPr>
              <a:t>The Room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8A2EA4-A6DB-4467-8DE3-E34ACA0F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2900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Rhetorical 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9852F3-14CA-462A-A9E5-4D6654DA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8620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5247"/>
                </a:solidFill>
              </a:defRPr>
            </a:pPr>
            <a:r>
              <a:rPr sz="1575">
                <a:solidFill>
                  <a:srgbClr val="5D5247"/>
                </a:solidFill>
              </a:rPr>
              <a:t>Defending claims to unpredictable human interlocutors.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849E55-CDF0-4F73-853A-9ACE50CD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05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C5BEA-4127-4BB3-92CA-0A21C93F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Threat  -  Simulation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8B3FFE-5FC5-41D2-AC26-832AD0D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84170"/>
            <a:ext cx="4033838" cy="6094095"/>
          </a:xfrm>
          <a:prstGeom xmlns:a="http://schemas.openxmlformats.org/drawingml/2006/main" prst="roundRect">
            <a:avLst>
              <a:gd name="adj" fmla="val 1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E0CA09-808C-42D6-801C-4899B05F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5A32"/>
                </a:solidFill>
              </a:defRPr>
            </a:pPr>
            <a:r>
              <a:rPr sz="1275" b="1">
                <a:solidFill>
                  <a:srgbClr val="B25A32"/>
                </a:solidFill>
              </a:rPr>
              <a:t>The World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ECF5C-4BD9-430A-BD3B-2919B296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2900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Existential friction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D12B6-EEBB-4901-91F2-B805B236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8620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5247"/>
                </a:solidFill>
              </a:defRPr>
            </a:pPr>
            <a:r>
              <a:rPr sz="1575">
                <a:solidFill>
                  <a:srgbClr val="5D5247"/>
                </a:solidFill>
              </a:rPr>
              <a:t>Being accountable for one's thinking in front of others.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38A7A-B7B8-4A45-947A-9731D7FE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05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FB75E1-F4D4-40A6-8684-9B8A047F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2387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Threat  -  Abstraction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4FD5C0-BF93-4550-86DF-DCF0C8BC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5013" y="2884170"/>
            <a:ext cx="4033838" cy="6094095"/>
          </a:xfrm>
          <a:prstGeom xmlns:a="http://schemas.openxmlformats.org/drawingml/2006/main" prst="roundRect">
            <a:avLst>
              <a:gd name="adj" fmla="val 1889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9B586-EB00-48D0-9DC3-151CEB89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1051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25A32"/>
                </a:solidFill>
              </a:defRPr>
            </a:pPr>
            <a:r>
              <a:rPr sz="1275" b="1">
                <a:solidFill>
                  <a:srgbClr val="B25A32"/>
                </a:solidFill>
              </a:rPr>
              <a:t>The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9E0D8-6D24-4538-B4F3-0381FB4A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42900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A241E"/>
                </a:solidFill>
              </a:defRPr>
            </a:pPr>
            <a:r>
              <a:rPr sz="2325" b="0">
                <a:solidFill>
                  <a:srgbClr val="2A241E"/>
                </a:solidFill>
              </a:rPr>
              <a:t>Infrastructural friction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FCA8E2-15BB-4277-9939-168F559F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886200"/>
            <a:ext cx="3619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D5247"/>
                </a:solidFill>
              </a:defRPr>
            </a:pPr>
            <a:r>
              <a:rPr sz="1575">
                <a:solidFill>
                  <a:srgbClr val="5D5247"/>
                </a:solidFill>
              </a:rPr>
              <a:t>Policy, assessment design, professional development, and institutional values.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8C78A5-BD6D-4E85-8E9C-3AD8CAB9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10540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F24044-3287-4C27-A554-5A6B465C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2387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Threat  -  Silence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77E9079-4EA8-49A8-B438-4E4B4BCF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53151A-B947-41DD-AFFC-B8937D34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981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V  -  Pedagogical friction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1BC1D-D3A2-464B-B13A-1F9A3C93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75718996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12D767F-C3C4-4F5D-960F-ECD4BEA8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761F8707-D010-4890-B418-70996DBC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87F30A12-0E46-4DA3-967B-A70FD1CF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2438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The equity guardrail on the framework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898F8AF6-82E3-4218-BD19-972EE55E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4DDB8F-76D3-4804-BF03-B1387225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0267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Not all friction is productive.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F872B235-F743-4699-8476-9B681750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02679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"Preserve struggle" without this distinction can reproduce inequity under the language of rigor.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35B11-0EB6-4357-821F-43ECE27F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84170"/>
            <a:ext cx="8105775" cy="6094095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D6A688-A0AD-497F-8FD1-B662C1CB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00400"/>
            <a:ext cx="739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607466"/>
                </a:solidFill>
              </a:defRPr>
            </a:pPr>
            <a:r>
              <a:rPr sz="3000" b="0">
                <a:solidFill>
                  <a:srgbClr val="607466"/>
                </a:solidFill>
              </a:rPr>
              <a:t>Preserve productive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CF740-24B4-4647-AA56-FB9A5212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481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275325-75A2-4611-9023-D7FE1D20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4810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5247"/>
                </a:solidFill>
              </a:defRPr>
            </a:pPr>
            <a:r>
              <a:rPr sz="1875">
                <a:solidFill>
                  <a:srgbClr val="5D5247"/>
                </a:solidFill>
              </a:rPr>
              <a:t>Wrestling with a difficult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484961-BE60-4B5C-B833-93EE758A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65B89-380A-4EEB-B8F1-C1129622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4815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5247"/>
                </a:solidFill>
              </a:defRPr>
            </a:pPr>
            <a:r>
              <a:rPr sz="1875">
                <a:solidFill>
                  <a:srgbClr val="5D5247"/>
                </a:solidFill>
              </a:rPr>
              <a:t>Defending an argument under critique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BC84B-1DFD-4517-B9C0-C32AB713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4F11C-F326-436B-9D7C-B0C1D0AF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5247"/>
                </a:solidFill>
              </a:defRPr>
            </a:pPr>
            <a:r>
              <a:rPr sz="1875">
                <a:solidFill>
                  <a:srgbClr val="5D5247"/>
                </a:solidFill>
              </a:rPr>
              <a:t>Composing original work from one's own understanding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396013-7FE4-4C16-89AA-CF2719F9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482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2416A-2106-4BCA-B7FD-ADB1967F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4825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D5247"/>
                </a:solidFill>
              </a:defRPr>
            </a:pPr>
            <a:r>
              <a:rPr sz="1875">
                <a:solidFill>
                  <a:srgbClr val="5D5247"/>
                </a:solidFill>
              </a:rPr>
              <a:t>Revising in response to feedback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6A2F6D-FBAF-4A7F-B385-4223A998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884170"/>
            <a:ext cx="8105775" cy="6094095"/>
          </a:xfrm>
          <a:prstGeom xmlns:a="http://schemas.openxmlformats.org/drawingml/2006/main" prst="roundRect">
            <a:avLst>
              <a:gd name="adj" fmla="val 1250"/>
            </a:avLst>
          </a:prstGeom>
          <a:solidFill xmlns:a="http://schemas.openxmlformats.org/drawingml/2006/main">
            <a:srgbClr val="191612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7D4569-2B64-410B-ADF5-8BCFED49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0400"/>
            <a:ext cx="7391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D18455"/>
                </a:solidFill>
              </a:defRPr>
            </a:pPr>
            <a:r>
              <a:rPr sz="3000" b="0">
                <a:solidFill>
                  <a:srgbClr val="D18455"/>
                </a:solidFill>
              </a:rPr>
              <a:t>Reduce exclusionary friction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C426D6-0DB4-4611-B0E1-B8C7D5BB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481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34F2F3-5647-4AC4-B9E8-D5627651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84810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F3EC"/>
                </a:solidFill>
              </a:defRPr>
            </a:pPr>
            <a:r>
              <a:rPr sz="1875">
                <a:solidFill>
                  <a:srgbClr val="F7F3EC"/>
                </a:solidFill>
              </a:rPr>
              <a:t>Language barriers unrelated to the objective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B8A10-8057-4540-9F7C-4977D4BF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481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27CC3-6BD0-48A2-85E6-3DB07F71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24815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F3EC"/>
                </a:solidFill>
              </a:defRPr>
            </a:pPr>
            <a:r>
              <a:rPr sz="1875">
                <a:solidFill>
                  <a:srgbClr val="F7F3EC"/>
                </a:solidFill>
              </a:rPr>
              <a:t>Inaccessible formats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89B8B-FA31-418C-9A5E-32DAE3AD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4820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566E1-4CA7-48C5-9D10-6CFD4B8C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F3EC"/>
                </a:solidFill>
              </a:defRPr>
            </a:pPr>
            <a:r>
              <a:rPr sz="1875">
                <a:solidFill>
                  <a:srgbClr val="F7F3EC"/>
                </a:solidFill>
              </a:rPr>
              <a:t>Procedural demands that do not measure learning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71CDF-E831-4407-BC3C-44798C27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048250"/>
            <a:ext cx="228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25A32"/>
                </a:solidFill>
              </a:defRPr>
            </a:pPr>
            <a:r>
              <a:rPr sz="1875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C5963F-99EB-4121-8D24-4ED50B3F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48250"/>
            <a:ext cx="7029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7F3EC"/>
                </a:solidFill>
              </a:defRPr>
            </a:pPr>
            <a:r>
              <a:rPr sz="1875">
                <a:solidFill>
                  <a:srgbClr val="F7F3EC"/>
                </a:solidFill>
              </a:rPr>
              <a:t>Norms that treat one cognitive profile as default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1DABDD7-54BD-482B-AF57-7C681AE1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8E173B-3EAC-4B8A-9A0A-53EDE276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981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V  -  Pedagogical friction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1BD61D-0D47-4D6B-B083-756956DE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22459284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D3A15D8B-D0D4-4DD2-AB8A-52FAF04D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9EFC71D1-346A-482C-91F4-1232ED27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2E906453-57A1-408E-87D5-4ABAB1F1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"/>
            <a:ext cx="2590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A K-12 case the framework has to handle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6A2BF4E2-EE17-4411-A8DE-3F7339ED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19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99583C-5C61-445A-9CD5-39BB35F7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11525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The English Learner paradox.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AD2F2432-4526-439A-A13E-94BF118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11525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A multilingual student uses AI translation to convert a draft from their first language into English. What just happened?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ED21D-EC51-49F8-9485-7D2580C1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811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607466"/>
                </a:solidFill>
              </a:defRPr>
            </a:pPr>
            <a:r>
              <a:rPr sz="3150" b="0">
                <a:solidFill>
                  <a:srgbClr val="607466"/>
                </a:solidFill>
              </a:rPr>
              <a:t>Access gained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66FBC-BF53-420D-A9D0-B0118B4C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8115300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An exclusionary barrier dropped. The student can demonstrate content knowledge without being filtered through a language barrier unrelated to the learning objective.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C97C9-EF72-4938-91D5-5A264369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8115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B25A32"/>
                </a:solidFill>
              </a:defRPr>
            </a:pPr>
            <a:r>
              <a:rPr sz="3150" b="0">
                <a:solidFill>
                  <a:srgbClr val="B25A32"/>
                </a:solidFill>
              </a:rPr>
              <a:t>Voice at risk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9D387-D239-4075-BEDB-5D5D5D99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81153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5247"/>
                </a:solidFill>
              </a:defRPr>
            </a:pPr>
            <a:r>
              <a:rPr sz="2025">
                <a:solidFill>
                  <a:srgbClr val="5D5247"/>
                </a:solidFill>
              </a:rPr>
              <a:t>Translation can produce grammatically correct, stylistically generic prose, flattening phrasing that made the writing recognizably the student's own.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90730-0622-4C9B-8E94-D998E327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686800"/>
            <a:ext cx="166497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A241E"/>
                </a:solidFill>
              </a:defRPr>
            </a:pPr>
            <a:r>
              <a:rPr sz="1875">
                <a:solidFill>
                  <a:srgbClr val="2A241E"/>
                </a:solidFill>
              </a:rPr>
              <a:t>No mechanical rule resolves this. The same tool can reduce both kinds of friction at once. The framework asks educators to make situated professional judgments.</a:t>
            </a:r>
          </a:p>
        </p:txBody>
      </p:sp>
      <p:sp>
        <p:nvSpPr>
          <p:cNvPr id="1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DC84ED-3553-4AE1-BD1A-FD20A0D4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80311-AE6A-4B2E-95D6-7452E966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1981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V  -  Pedagogical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CE8CB-43F8-4B01-8E49-D0B94ED2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79049819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8FE33B74-59B8-40F0-825D-F2565559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734679B6-C8ED-4B14-B8AE-31B356B4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5C9EBA76-1713-407D-8FC4-C83BD165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Part Four  -  Implications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03BC7779-4CD9-4B6C-A9FB-503AC44A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060996-A41F-4059-B204-AF712ED7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047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D923B-9A10-432D-AE77-11F8D45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152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25A32"/>
                </a:solidFill>
              </a:defRPr>
            </a:pPr>
            <a:r>
              <a:rPr sz="1425" b="1">
                <a:solidFill>
                  <a:srgbClr val="B25A32"/>
                </a:solidFill>
              </a:rPr>
              <a:t>PART FOUR  -  IMPLICATIONS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9D4AA-9785-4C21-B564-EAA206A5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2001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2A241E"/>
                </a:solidFill>
              </a:defRPr>
            </a:pPr>
            <a:r>
              <a:rPr sz="5700" b="0">
                <a:solidFill>
                  <a:srgbClr val="2A241E"/>
                </a:solidFill>
              </a:rPr>
              <a:t>What changes Monday morning.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EE87D-10A0-4046-A695-B9AC50A3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20015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5D5247"/>
                </a:solidFill>
              </a:defRPr>
            </a:pPr>
            <a:r>
              <a:rPr sz="2325">
                <a:solidFill>
                  <a:srgbClr val="5D5247"/>
                </a:solidFill>
              </a:rPr>
              <a:t>Curriculum, advocacy, and policy moves for K-12 leaders who are tired of choosing between ban and embrace.</a:t>
            </a:r>
          </a:p>
        </p:txBody>
      </p:sp>
      <p:sp>
        <p:nvSpPr>
          <p:cNvPr id="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B2A2517-862D-49A6-AF0F-5823015B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5C71C8-3D77-4763-BE26-CF95A636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V.D  -  Implications for K-12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B95DC-2A68-4277-B205-ECD06BCD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563880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12404345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E53EDEA7-D0C9-4A6F-8D28-C519F11C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6BA2E92C-2EC8-45CD-9766-C6B19F51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8287D9B5-7D2E-4D53-A7A4-9E2E6DC1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1543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Three columns of moves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32D9F9F3-17CA-4029-8D0F-263238AA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21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C05AE34-28C0-46C0-A3F1-BC5CA6B0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81100"/>
            <a:ext cx="501015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0">
                <a:solidFill>
                  <a:srgbClr val="2A241E"/>
                </a:solidFill>
              </a:defRPr>
            </a:pPr>
            <a:r>
              <a:rPr sz="4200" b="0">
                <a:solidFill>
                  <a:srgbClr val="2A241E"/>
                </a:solidFill>
              </a:rPr>
              <a:t>Curriculum, advocacy, policy.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1097E79A-BE44-4F4B-A40F-95E76B60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5010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D5247"/>
                </a:solidFill>
              </a:defRPr>
            </a:pPr>
            <a:r>
              <a:rPr sz="2100">
                <a:solidFill>
                  <a:srgbClr val="5D5247"/>
                </a:solidFill>
              </a:rPr>
              <a:t>Friction must become structural, not personal.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3D7DD-DA8B-4545-88A2-262AA4C0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5372100" cy="5454015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9E960-91C0-41F8-8080-DBDA9C7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Curriculum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3C208E-EB66-4F37-AF31-E9BAB2DF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487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A241E"/>
                </a:solidFill>
              </a:defRPr>
            </a:pPr>
            <a:r>
              <a:rPr sz="2400" b="0">
                <a:solidFill>
                  <a:srgbClr val="2A241E"/>
                </a:solidFill>
              </a:rPr>
              <a:t>Make thinking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3765E-7EE4-4A2A-88D3-87D2F6E9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1631E-569A-45FD-B849-456CD59D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672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Assess process, not only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4DD51-4E98-4854-9C34-6115909D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82A2E-9592-4485-8261-D0B64833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01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Require noetic struggle before AI assistance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16119-5089-4C31-8A27-DEDAC8FF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530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7B5F9-2609-47CB-830A-A7969CE8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530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Bring back oral defense, critique, in-class drafting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E1CF4-0052-4EA0-904B-C62D6D09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959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6647D-EA94-4A27-BAD0-23607F06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Ask students to explain how work was made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60941-64D3-4191-862E-8CD4181D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5372100" cy="5454015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19161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1BAE3D-F73E-4D8E-AFB8-8DBE22DF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18455"/>
                </a:solidFill>
              </a:defRPr>
            </a:pPr>
            <a:r>
              <a:rPr sz="1350" b="1">
                <a:solidFill>
                  <a:srgbClr val="D18455"/>
                </a:solidFill>
              </a:rPr>
              <a:t>Advocacy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1556D-581A-406D-BF80-9DDEE2AA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487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3EC"/>
                </a:solidFill>
              </a:defRPr>
            </a:pPr>
            <a:r>
              <a:rPr sz="2400" b="0">
                <a:solidFill>
                  <a:srgbClr val="F7F3EC"/>
                </a:solidFill>
              </a:rPr>
              <a:t>Name friction as protected.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671BAE-8835-474E-BED2-D82FDAE9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672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E3225-2F64-40FF-B3DE-6B2CA7E4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672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7F3EC"/>
                </a:solidFill>
              </a:defRPr>
            </a:pPr>
            <a:r>
              <a:rPr sz="1500">
                <a:solidFill>
                  <a:srgbClr val="F7F3EC"/>
                </a:solidFill>
              </a:rPr>
              <a:t>Push back on efficiency as the only frame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B7768-84CF-4D14-B85E-711129E3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10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D9B67-B3B2-4F61-99F6-807EB511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101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7F3EC"/>
                </a:solidFill>
              </a:defRPr>
            </a:pPr>
            <a:r>
              <a:rPr sz="1500">
                <a:solidFill>
                  <a:srgbClr val="F7F3EC"/>
                </a:solidFill>
              </a:rPr>
              <a:t>Speak from technology leadership, not against 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228F2-C1DF-4F31-8DAE-38E1FB69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530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EA8388-5469-4D73-83B4-D9234B95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530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7F3EC"/>
                </a:solidFill>
              </a:defRPr>
            </a:pPr>
            <a:r>
              <a:rPr sz="1500">
                <a:solidFill>
                  <a:srgbClr val="F7F3EC"/>
                </a:solidFill>
              </a:rPr>
              <a:t>Equip teachers to explain why struggle matters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F1F03-62BF-4898-B20B-D01380F2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959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3E28B6-C10E-41F2-99F8-3FCCABC3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959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7F3EC"/>
                </a:solidFill>
              </a:defRPr>
            </a:pPr>
            <a:r>
              <a:rPr sz="1500">
                <a:solidFill>
                  <a:srgbClr val="F7F3EC"/>
                </a:solidFill>
              </a:rPr>
              <a:t>Bring families into the conversation early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134E6E-224C-4D1F-B994-096E366C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3524250"/>
            <a:ext cx="5372100" cy="5454015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FFFDF8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BEC968-E245-4CCB-B134-A2CF758C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3790950"/>
            <a:ext cx="4876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25A32"/>
                </a:solidFill>
              </a:defRPr>
            </a:pPr>
            <a:r>
              <a:rPr sz="1350" b="1">
                <a:solidFill>
                  <a:srgbClr val="B25A32"/>
                </a:solidFill>
              </a:rPr>
              <a:t>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E66656-5AD2-4ADE-AE5D-985C6335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152900"/>
            <a:ext cx="4876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A241E"/>
                </a:solidFill>
              </a:defRPr>
            </a:pPr>
            <a:r>
              <a:rPr sz="2400" b="0">
                <a:solidFill>
                  <a:srgbClr val="2A241E"/>
                </a:solidFill>
              </a:rPr>
              <a:t>Close the learning-science gap.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A8E5DE-2AEE-4796-A2F2-D0658AA4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46672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DE9558-0908-4461-8AF1-4E9AA7FD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6672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Reference cognition, not only 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5C5C0E-DC3C-4845-BDCF-9886955B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0101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92E605-7B74-4C13-9615-4A426F20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0101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Distinguish productive from exclusionary use cases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BFF7E2-AB9A-426D-892A-63414107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3530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902348-ABAA-4C82-996F-6D49B691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3530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Build assessment that values process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E4172-03B8-4083-810C-FFB31A93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695950"/>
            <a:ext cx="228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25A32"/>
                </a:solidFill>
              </a:defRPr>
            </a:pPr>
            <a:r>
              <a:rPr sz="1500" b="1">
                <a:solidFill>
                  <a:srgbClr val="B25A32"/>
                </a:solidFill>
              </a:rPr>
              <a:t>-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4577EEB-A82D-4FCE-ABBB-E07D30EE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695950"/>
            <a:ext cx="4514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D5247"/>
                </a:solidFill>
              </a:defRPr>
            </a:pPr>
            <a:r>
              <a:rPr sz="1500">
                <a:solidFill>
                  <a:srgbClr val="5D5247"/>
                </a:solidFill>
              </a:rPr>
              <a:t>Fund professional judgment, not just tool training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2B2557C-5D71-4DD9-8647-28396631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220200"/>
            <a:ext cx="1664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AA8"/>
          </a:solidFill>
          <a:ln xmlns:a="http://schemas.openxmlformats.org/drawingml/2006/main" w="0">
            <a:solidFill>
              <a:srgbClr val="C8BAA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8E5422-B107-402F-A495-CB170977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53550"/>
            <a:ext cx="2152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Section V.D  -  Implications for K-12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E433E49-6426-478B-8962-8E82A966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93535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139728946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g">
            <a:extLst xmlns:a="http://schemas.openxmlformats.org/drawingml/2006/main">
              <a:ext uri="{FF2B5EF4-FFF2-40B4-BE49-F238E27FC236}">
                <a16:creationId xmlns:a16="http://schemas.microsoft.com/office/drawing/2014/main" id="{6BCE1A17-60B0-459D-B54C-640F1C5F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</p:spPr>
      </p:sp>
      <p:sp>
        <p:nvSpPr>
          <p:cNvPr id="2" name="dot">
            <a:extLst xmlns:a="http://schemas.openxmlformats.org/drawingml/2006/main">
              <a:ext uri="{FF2B5EF4-FFF2-40B4-BE49-F238E27FC236}">
                <a16:creationId xmlns:a16="http://schemas.microsoft.com/office/drawing/2014/main" id="{D4131904-46AE-4402-BA7F-B4EDB749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4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25A32"/>
          </a:solidFill>
        </p:spPr>
      </p:sp>
      <p:sp>
        <p:nvSpPr>
          <p:cNvPr id="3" name="meta-label">
            <a:extLst xmlns:a="http://schemas.openxmlformats.org/drawingml/2006/main">
              <a:ext uri="{FF2B5EF4-FFF2-40B4-BE49-F238E27FC236}">
                <a16:creationId xmlns:a16="http://schemas.microsoft.com/office/drawing/2014/main" id="{B92BED3A-83DB-4047-8D38-4E3EDAC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675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25A32"/>
                </a:solidFill>
              </a:defRPr>
            </a:pPr>
            <a:r>
              <a:rPr sz="1200" b="1">
                <a:solidFill>
                  <a:srgbClr val="B25A32"/>
                </a:solidFill>
              </a:rPr>
              <a:t>Closing</a:t>
            </a:r>
          </a:p>
        </p:txBody>
      </p:sp>
      <p:sp>
        <p:nvSpPr>
          <p:cNvPr id="4" name="slide-num">
            <a:extLst xmlns:a="http://schemas.openxmlformats.org/drawingml/2006/main">
              <a:ext uri="{FF2B5EF4-FFF2-40B4-BE49-F238E27FC236}">
                <a16:creationId xmlns:a16="http://schemas.microsoft.com/office/drawing/2014/main" id="{E01080D8-C677-4CBB-8CD7-E2B29A79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16450" y="571500"/>
            <a:ext cx="1524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887C70"/>
                </a:solidFill>
              </a:defRPr>
            </a:pPr>
            <a:r>
              <a:rPr sz="1200" b="1">
                <a:solidFill>
                  <a:srgbClr val="887C70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E4418-732A-40F7-B828-A4014EF4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5A32"/>
          </a:solidFill>
          <a:ln xmlns:a="http://schemas.openxmlformats.org/drawingml/2006/main" w="0">
            <a:solidFill>
              <a:srgbClr val="B25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A07E1-735A-4814-94E3-25381022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1428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25A32"/>
                </a:solidFill>
              </a:defRPr>
            </a:pPr>
            <a:r>
              <a:rPr sz="1800" b="1">
                <a:solidFill>
                  <a:srgbClr val="B25A32"/>
                </a:solidFill>
              </a:rPr>
              <a:t>The question to keep asking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3F8D7-F341-423C-A5C8-08EDBF48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38112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2A241E"/>
                </a:solidFill>
              </a:defRPr>
            </a:pPr>
            <a:r>
              <a:rPr sz="5700" b="0">
                <a:solidFill>
                  <a:srgbClr val="2A241E"/>
                </a:solidFill>
              </a:rPr>
              <a:t>For whom does this difficulty build capacity, and for whom does it restrict access?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AF31A-2299-4C2F-B4E6-6E3FF330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4287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>
                <a:solidFill>
                  <a:srgbClr val="B25A32"/>
                </a:solidFill>
              </a:defRPr>
            </a:pPr>
            <a:r>
              <a:rPr sz="2550">
                <a:solidFill>
                  <a:srgbClr val="B25A32"/>
                </a:solidFill>
              </a:rPr>
              <a:t>Thank you. Questions welcome.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0D9FC-6D66-4FAB-9788-1C52F1D6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29350"/>
            <a:ext cx="2819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A241E"/>
                </a:solidFill>
              </a:defRPr>
            </a:pPr>
            <a:r>
              <a:rPr sz="2025" b="1">
                <a:solidFill>
                  <a:srgbClr val="2A241E"/>
                </a:solidFill>
              </a:rPr>
              <a:t>Micah J. Miner, CETL, Ed.S.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8A9704-16F3-4367-A611-AFFB07A8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591300"/>
            <a:ext cx="619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887C70"/>
                </a:solidFill>
              </a:defRPr>
            </a:pPr>
            <a:r>
              <a:rPr sz="1425">
                <a:solidFill>
                  <a:srgbClr val="887C70"/>
                </a:solidFill>
              </a:rPr>
              <a:t>Director of Innovation &amp; Technology  -  Doctoral Candidate, National Louis University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8F962-552E-48F1-A67D-A7B0B120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30700" y="6648450"/>
            <a:ext cx="4381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87C70"/>
                </a:solidFill>
              </a:defRPr>
            </a:pPr>
            <a:r>
              <a:rPr sz="1200">
                <a:solidFill>
                  <a:srgbClr val="887C70"/>
                </a:solidFill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406352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2026-05-01T22:26:45.6750000Z</dcterms:created>
  <dcterms:modified xsi:type="dcterms:W3CDTF">2026-05-01T22:26:45.6750000Z</dcterms:modified>
</coreProperties>
</file>